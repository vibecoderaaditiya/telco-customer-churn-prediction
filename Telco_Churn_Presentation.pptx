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[morning/afternoon]. I'm Aaditiya Anjan. Over my two-month AI internship at Persevex</a:t>
            </a:r>
          </a:p>
          <a:p>
            <a:r>
              <a:t>I built an end-to-end churn-prediction system for a telecom provider. The goal was not just</a:t>
            </a:r>
          </a:p>
          <a:p>
            <a:r>
              <a:t>a model, but a decision tool: who is about to leave, why, and what we should do about it.</a:t>
            </a:r>
          </a:p>
          <a:p>
            <a:r>
              <a:t>Three numbers frame the talk - a 0.846 ROC-AUC champion model, 80% of churners caught, and</a:t>
            </a:r>
          </a:p>
          <a:p>
            <a:r>
              <a:t>a simulated 39.8 thousand dollars of net retention benefit on the test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was a full two-month engagement in Persevex's AI domain. I owned the project end to end:</a:t>
            </a:r>
          </a:p>
          <a:p>
            <a:r>
              <a:t>sourcing and cleaning the data, exploratory analysis, feature engineering, modelling, model</a:t>
            </a:r>
          </a:p>
          <a:p>
            <a:r>
              <a:t>explainability, and finally translating it into a financial business case. The emphasis was</a:t>
            </a:r>
          </a:p>
          <a:p>
            <a:r>
              <a:t>on delivering something a business could actually use, not just a notebook of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business problem: telecom is a saturated market where switching costs are low, so</a:t>
            </a:r>
          </a:p>
          <a:p>
            <a:r>
              <a:t>customers leave quietly. In this dataset 26.5% have already churned. The expensive part is</a:t>
            </a:r>
          </a:p>
          <a:p>
            <a:r>
              <a:t>that acquiring a replacement customer costs several times more than retaining an existing one,</a:t>
            </a:r>
          </a:p>
          <a:p>
            <a:r>
              <a:t>so churn is really a recurring-revenue and margin problem. My objective was threefold - predict</a:t>
            </a:r>
          </a:p>
          <a:p>
            <a:r>
              <a:t>churn before it happens, explain the drivers, and prioritise where retention budget should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methodology followed eight stages. After cleaning the raw data, I ran exploratory analysis</a:t>
            </a:r>
          </a:p>
          <a:p>
            <a:r>
              <a:t>and hypothesis testing to confirm which patterns were statistically real, not noise. I then</a:t>
            </a:r>
          </a:p>
          <a:p>
            <a:r>
              <a:t>engineered ten domain features, encoded and scaled to 47 model columns, trained four algorithms,</a:t>
            </a:r>
          </a:p>
          <a:p>
            <a:r>
              <a:t>explained the winner with SHAP, and finished with a business strategy. The guiding principle was</a:t>
            </a:r>
          </a:p>
          <a:p>
            <a:r>
              <a:t>that every technical step should ladder up to a business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dataset is the well-known Telco Customer Churn set - 7,043 customers, each described by</a:t>
            </a:r>
          </a:p>
          <a:p>
            <a:r>
              <a:t>demographics, the services they subscribe to, their contract type, and billing information.</a:t>
            </a:r>
          </a:p>
          <a:p>
            <a:r>
              <a:t>The target is a simple binary: did the customer churn. It's imbalanced at roughly 26.5% churn,</a:t>
            </a:r>
          </a:p>
          <a:p>
            <a:r>
              <a:t>which matters for modelling. I used a stratified 80/20 split so both train and test preserve</a:t>
            </a:r>
          </a:p>
          <a:p>
            <a:r>
              <a:t>that ratio, and after feature engineering and encoding the 21 raw fields became 47 model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Exploratory analysis was the most insight-rich part. Churn is not evenly spread - it concentrates</a:t>
            </a:r>
          </a:p>
          <a:p>
            <a:r>
              <a:t>in identifiable segments. Month-to-month contracts churn at 42.7% versus just 2.8% for two-year</a:t>
            </a:r>
          </a:p>
          <a:p>
            <a:r>
              <a:t>contracts. Customers in their first year churn at 47.4% versus single digits for long-tenured</a:t>
            </a:r>
          </a:p>
          <a:p>
            <a:r>
              <a:t>ones. Fiber-optic, electronic-check payers, and customers with no bundled services all churn far</a:t>
            </a:r>
          </a:p>
          <a:p>
            <a:r>
              <a:t>above the 26.5% baseline. These contrasts directly shaped both my features and my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Raw columns rarely capture behaviour directly, so I engineered ten features that encode loyalty</a:t>
            </a:r>
          </a:p>
          <a:p>
            <a:r>
              <a:t>and risk explicitly. ContractRiskScore turns contract type into a numeric risk level; BundleScore</a:t>
            </a:r>
          </a:p>
          <a:p>
            <a:r>
              <a:t>and ServiceCount capture stickiness; AutoPaymentFlag and the premium flags capture commitment.</a:t>
            </a:r>
          </a:p>
          <a:p>
            <a:r>
              <a:t>The standout was LoyaltyScore, which fuses tenure, spend and contract length into one signal - it</a:t>
            </a:r>
          </a:p>
          <a:p>
            <a:r>
              <a:t>became one of the strongest predictors in every model, validating the feature-engineering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trained four algorithms on identical splits for a fair contest: Logistic Regression as a</a:t>
            </a:r>
          </a:p>
          <a:p>
            <a:r>
              <a:t>transparent baseline, Random Forest and XGBoost for non-linear power, and an SVM. Because the</a:t>
            </a:r>
          </a:p>
          <a:p>
            <a:r>
              <a:t>data is imbalanced, I used class weighting and scale_pos_weight so the models don't just predict</a:t>
            </a:r>
          </a:p>
          <a:p>
            <a:r>
              <a:t>"stay" for everyone. Everything was validated with stratified five-fold cross-validation, and I</a:t>
            </a:r>
          </a:p>
          <a:p>
            <a:r>
              <a:t>tuned XGBoost across 144 configurations with grid search. XGBoost emerged as the champion.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head-to-head. On ROC-AUC the models are close - between 0.825 and 0.846 - but ROC-AUC</a:t>
            </a:r>
          </a:p>
          <a:p>
            <a:r>
              <a:t>isn't the whole story. For churn, recall matters most: missing a customer who actually leaves is</a:t>
            </a:r>
          </a:p>
          <a:p>
            <a:r>
              <a:t>far costlier than a false alarm. Tuned XGBoost wins on both fronts, with the top ROC-AUC of 0.846</a:t>
            </a:r>
          </a:p>
          <a:p>
            <a:r>
              <a:t>and the best recall at 80.5%. Its cross-validated ROC-AUC of 0.848 with a tight standard deviation</a:t>
            </a:r>
          </a:p>
          <a:p>
            <a:r>
              <a:t>confirms the result is stable and not an artefact of one lucky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Zooming into the champion. The confusion matrix shows it caught 301 of the 374 actual churners</a:t>
            </a:r>
          </a:p>
          <a:p>
            <a:r>
              <a:t>in the held-out test set - about 80%. There are 281 false positives, customers flagged who would</a:t>
            </a:r>
          </a:p>
          <a:p>
            <a:r>
              <a:t>have stayed, but that trade-off is deliberate and cheap: a retention offer to someone who'd have</a:t>
            </a:r>
          </a:p>
          <a:p>
            <a:r>
              <a:t>stayed costs little, while missing a real churner loses their lifetime value. ROC-AUC is 0.846,</a:t>
            </a:r>
          </a:p>
          <a:p>
            <a:r>
              <a:t>F1 is 0.63, and the cross-validated AUC of 0.848 confirms it generalises.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model that can't be explained won't be trusted by a business, so I used SHAP, plus logistic</a:t>
            </a:r>
          </a:p>
          <a:p>
            <a:r>
              <a:t>odds ratios and tree importances, to open the box. They agree on the story. The biggest churn</a:t>
            </a:r>
          </a:p>
          <a:p>
            <a:r>
              <a:t>drivers are ContractRiskScore - short contracts - and a low LoyaltyScore, followed by fiber-optic</a:t>
            </a:r>
          </a:p>
          <a:p>
            <a:r>
              <a:t>service and electronic-check payment. Auto-pay, by contrast, is protective. Crucially these are</a:t>
            </a:r>
          </a:p>
          <a:p>
            <a:r>
              <a:t>all actionable levers, which is what makes the next slide - the business case -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makes it real. I simulated a retention campaign: rank every test customer</a:t>
            </a:r>
          </a:p>
          <a:p>
            <a:r>
              <a:t>by predicted risk, contact only the top 20% - 281 people - and assume a modest 25% of contacted</a:t>
            </a:r>
          </a:p>
          <a:p>
            <a:r>
              <a:t>churners are saved. The model correctly concentrated 190 real churners into that group. The result:</a:t>
            </a:r>
          </a:p>
          <a:p>
            <a:r>
              <a:t>about 44 thousand dollars of gross revenue saved against roughly 4,200 dollars of outreach cost,</a:t>
            </a:r>
          </a:p>
          <a:p>
            <a:r>
              <a:t>for a net benefit near 40 thousand and a return of about nine and a half times. That's the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analysis converts directly into six retention plays: migrate month-to-month customers onto</a:t>
            </a:r>
          </a:p>
          <a:p>
            <a:r>
              <a:t>longer contracts, invest in first-year onboarding, add value to fiber, nudge customers onto</a:t>
            </a:r>
          </a:p>
          <a:p>
            <a:r>
              <a:t>auto-pay, run bundling campaigns, and - most importantly - target retention budget at the top 20%</a:t>
            </a:r>
          </a:p>
          <a:p>
            <a:r>
              <a:t>risk tier the model identifies. Looking forward, I'd move this to real-time scoring, weight by</a:t>
            </a:r>
          </a:p>
          <a:p>
            <a:r>
              <a:t>customer lifetime value, test deep-learning models, and A/B-test the offers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brings me to the end. To summarise: I built an explainable churn model that catches 80% of</a:t>
            </a:r>
          </a:p>
          <a:p>
            <a:r>
              <a:t>leavers and, applied to the top 20% risk tier, turns into roughly 40 thousand dollars of net</a:t>
            </a:r>
          </a:p>
          <a:p>
            <a:r>
              <a:t>retention benefit - a 9.5x return. The full code and notebook are on the GitHub repo shown here.</a:t>
            </a:r>
          </a:p>
          <a:p>
            <a:r>
              <a:t>Thank you for your time; I'm happy to take questions on the modelling, the features, or the</a:t>
            </a:r>
          </a:p>
          <a:p>
            <a:r>
              <a:t>business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DF9"/>
              </a:gs>
              <a:gs pos="100000">
                <a:srgbClr val="F3E7D8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1463040"/>
            <a:ext cx="4754880" cy="4754880"/>
          </a:xfrm>
          <a:prstGeom prst="ellipse">
            <a:avLst/>
          </a:prstGeom>
          <a:solidFill>
            <a:srgbClr val="F6C9A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F2C079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0" y="2743200"/>
            <a:ext cx="4023360" cy="4023360"/>
          </a:xfrm>
          <a:prstGeom prst="ellipse">
            <a:avLst/>
          </a:prstGeom>
          <a:solidFill>
            <a:srgbClr val="F6C9A0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763C"/>
                </a:solidFill>
                <a:latin typeface="Inter"/>
              </a:rPr>
              <a:t>PERSEVEX  ·  ARTIFICIAL INTELLIGENCE INTERNSHIP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" y="1755648"/>
            <a:ext cx="640080" cy="73152"/>
          </a:xfrm>
          <a:prstGeom prst="roundRect">
            <a:avLst>
              <a:gd name="adj" fmla="val 50000"/>
            </a:avLst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500" b="1">
                <a:solidFill>
                  <a:srgbClr val="2A2520"/>
                </a:solidFill>
                <a:latin typeface="Inter"/>
              </a:rPr>
              <a:t>Predictive Customer Churn
</a:t>
            </a:r>
            <a:r>
              <a:rPr sz="4500" b="1">
                <a:solidFill>
                  <a:srgbClr val="E8763C"/>
                </a:solidFill>
                <a:latin typeface="Inter"/>
              </a:rPr>
              <a:t>Modelling</a:t>
            </a:r>
            <a:r>
              <a:rPr sz="4500" b="1">
                <a:solidFill>
                  <a:srgbClr val="2A2520"/>
                </a:solidFill>
                <a:latin typeface="Inter"/>
              </a:rPr>
              <a:t> for a Telecom Provider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11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8A817A"/>
                </a:solidFill>
                <a:latin typeface="Inter"/>
              </a:rPr>
              <a:t>Identifying at-risk customers and turning prediction into proactive retention.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526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A2520"/>
                </a:solidFill>
                <a:latin typeface="Inter"/>
              </a:rPr>
              <a:t>Aaditiya Anjan</a:t>
            </a:r>
            <a:r>
              <a:rPr sz="1500" b="0">
                <a:solidFill>
                  <a:srgbClr val="8A817A"/>
                </a:solidFill>
                <a:latin typeface="Inter"/>
              </a:rPr>
              <a:t>    ·    24BCS13112    ·    BE-CSE    ·    Semester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1208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5358384"/>
            <a:ext cx="20482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E8763C"/>
                </a:solidFill>
                <a:latin typeface="Inter"/>
              </a:rPr>
              <a:t>0.846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5760720"/>
            <a:ext cx="20482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8A817A"/>
                </a:solidFill>
                <a:latin typeface="Inter"/>
              </a:rPr>
              <a:t>ROC-AUC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521208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5358384"/>
            <a:ext cx="20482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E8763C"/>
                </a:solidFill>
                <a:latin typeface="Inter"/>
              </a:rPr>
              <a:t>80.5%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5760720"/>
            <a:ext cx="20482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8A817A"/>
                </a:solidFill>
                <a:latin typeface="Inter"/>
              </a:rPr>
              <a:t>CHURN RECALL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521208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3912" y="5358384"/>
            <a:ext cx="20482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E8763C"/>
                </a:solidFill>
                <a:latin typeface="Inter"/>
              </a:rPr>
              <a:t>$39.8K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5760720"/>
            <a:ext cx="20482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8A817A"/>
                </a:solidFill>
                <a:latin typeface="Inter"/>
              </a:rPr>
              <a:t>NET BENEFIT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521208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5358384"/>
            <a:ext cx="20482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E8763C"/>
                </a:solidFill>
                <a:latin typeface="Inter"/>
              </a:rPr>
              <a:t>7,043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4232" y="5760720"/>
            <a:ext cx="20482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8A817A"/>
                </a:solidFill>
                <a:latin typeface="Inter"/>
              </a:rPr>
              <a:t>CUSTOMERS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DF9"/>
              </a:gs>
              <a:gs pos="100000">
                <a:srgbClr val="F3E7D8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1463040"/>
            <a:ext cx="4754880" cy="4754880"/>
          </a:xfrm>
          <a:prstGeom prst="ellipse">
            <a:avLst/>
          </a:prstGeom>
          <a:solidFill>
            <a:srgbClr val="F6C9A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F2C079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763C"/>
                </a:solidFill>
                <a:latin typeface="Inter"/>
              </a:rPr>
              <a:t>01  · 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68096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2A2520"/>
                </a:solidFill>
                <a:latin typeface="Inter"/>
              </a:rPr>
              <a:t>Internship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2542032" cy="1600200"/>
          </a:xfrm>
          <a:prstGeom prst="roundRect">
            <a:avLst>
              <a:gd name="adj" fmla="val 6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93392"/>
            <a:ext cx="20848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8A817A"/>
                </a:solidFill>
                <a:latin typeface="Inter"/>
              </a:rPr>
              <a:t>ORGANIZATION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20848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2A2520"/>
                </a:solidFill>
                <a:latin typeface="Inter"/>
              </a:rPr>
              <a:t>Persevex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20848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8763C"/>
                </a:solidFill>
                <a:latin typeface="Inter"/>
              </a:rPr>
              <a:t>AI / Data Science partner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783080"/>
            <a:ext cx="2542032" cy="1600200"/>
          </a:xfrm>
          <a:prstGeom prst="roundRect">
            <a:avLst>
              <a:gd name="adj" fmla="val 6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993392"/>
            <a:ext cx="20848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8A817A"/>
                </a:solidFill>
                <a:latin typeface="Inter"/>
              </a:rPr>
              <a:t>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331720"/>
            <a:ext cx="20848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2A2520"/>
                </a:solidFill>
                <a:latin typeface="Inter"/>
              </a:rPr>
              <a:t>Artificial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017520"/>
            <a:ext cx="20848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8763C"/>
                </a:solidFill>
                <a:latin typeface="Inter"/>
              </a:rPr>
              <a:t>Applied ML &amp; analytics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199" y="1783080"/>
            <a:ext cx="2542032" cy="1600200"/>
          </a:xfrm>
          <a:prstGeom prst="roundRect">
            <a:avLst>
              <a:gd name="adj" fmla="val 6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799" y="1993392"/>
            <a:ext cx="20848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8A817A"/>
                </a:solidFill>
                <a:latin typeface="Inter"/>
              </a:rPr>
              <a:t>DURATION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799" y="2331720"/>
            <a:ext cx="20848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2A2520"/>
                </a:solidFill>
                <a:latin typeface="Inter"/>
              </a:rPr>
              <a:t>2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3017520"/>
            <a:ext cx="20848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8763C"/>
                </a:solidFill>
                <a:latin typeface="Inter"/>
              </a:rPr>
              <a:t>End-to-end delivery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1783080"/>
            <a:ext cx="2542032" cy="1600200"/>
          </a:xfrm>
          <a:prstGeom prst="roundRect">
            <a:avLst>
              <a:gd name="adj" fmla="val 6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993392"/>
            <a:ext cx="20848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8A817A"/>
                </a:solidFill>
                <a:latin typeface="Inter"/>
              </a:rPr>
              <a:t>MY ROLE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331720"/>
            <a:ext cx="20848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2A2520"/>
                </a:solidFill>
                <a:latin typeface="Inter"/>
              </a:rPr>
              <a:t>ML Intern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3017520"/>
            <a:ext cx="20848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8763C"/>
                </a:solidFill>
                <a:latin typeface="Inter"/>
              </a:rPr>
              <a:t>Data → Model → Strategy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703320"/>
            <a:ext cx="10634472" cy="2194560"/>
          </a:xfrm>
          <a:prstGeom prst="roundRect">
            <a:avLst>
              <a:gd name="adj" fmla="val 6000"/>
            </a:avLst>
          </a:prstGeom>
          <a:solidFill>
            <a:srgbClr val="FFFFFF">
              <a:alpha val="602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3977639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8763C"/>
                </a:solidFill>
                <a:latin typeface="Inter"/>
              </a:rPr>
              <a:t>WHAT I DELIVERED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343400"/>
            <a:ext cx="9966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A2520"/>
                </a:solidFill>
                <a:latin typeface="Inter"/>
              </a:rPr>
              <a:t>A complete, explainable churn-prediction pipeline — from raw telecom records to a deployed-ready risk model — paired with a financial simulation and a six-point retention playbook the business can act on immediately.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6419088"/>
            <a:ext cx="10634472" cy="12700"/>
          </a:xfrm>
          <a:prstGeom prst="rect">
            <a:avLst/>
          </a:prstGeom>
          <a:solidFill>
            <a:srgbClr val="C9BCA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A817A"/>
                </a:solidFill>
                <a:latin typeface="Inter"/>
              </a:rPr>
              <a:t>Predictive Customer Churn Modelling  ·  Persevex AI Internship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473952"/>
            <a:ext cx="2267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8A817A"/>
                </a:solidFill>
                <a:latin typeface="Inter"/>
              </a:rPr>
              <a:t>Aaditiya Anjan   </a:t>
            </a:r>
            <a:r>
              <a:rPr sz="950" b="1">
                <a:solidFill>
                  <a:srgbClr val="E8763C"/>
                </a:solidFill>
                <a:latin typeface="Inter"/>
              </a:rPr>
              <a:t>02</a:t>
            </a:r>
            <a:r>
              <a:rPr sz="950" b="0">
                <a:solidFill>
                  <a:srgbClr val="8A817A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DF9"/>
              </a:gs>
              <a:gs pos="100000">
                <a:srgbClr val="F3E7D8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1463040"/>
            <a:ext cx="4754880" cy="4754880"/>
          </a:xfrm>
          <a:prstGeom prst="ellipse">
            <a:avLst/>
          </a:prstGeom>
          <a:solidFill>
            <a:srgbClr val="F6C9A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F2C079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763C"/>
                </a:solidFill>
                <a:latin typeface="Inter"/>
              </a:rPr>
              <a:t>02  · 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68096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2A2520"/>
                </a:solidFill>
                <a:latin typeface="Inter"/>
              </a:rPr>
              <a:t>Churn is </a:t>
            </a:r>
            <a:r>
              <a:rPr sz="3300" b="1">
                <a:solidFill>
                  <a:srgbClr val="E8763C"/>
                </a:solidFill>
                <a:latin typeface="Inter"/>
              </a:rPr>
              <a:t>silent, recurring revenue loss</a:t>
            </a:r>
            <a:r>
              <a:rPr sz="3300" b="1">
                <a:solidFill>
                  <a:srgbClr val="2A2520"/>
                </a:solidFill>
                <a:latin typeface="Inter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4206240" cy="4023360"/>
          </a:xfrm>
          <a:prstGeom prst="roundRect">
            <a:avLst>
              <a:gd name="adj" fmla="val 6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3657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E8763C"/>
                </a:solidFill>
                <a:latin typeface="Inter"/>
              </a:rPr>
              <a:t>26.5%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3832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A2520"/>
                </a:solidFill>
                <a:latin typeface="Inter"/>
              </a:rPr>
              <a:t>of customers churn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840480"/>
            <a:ext cx="37033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817A"/>
                </a:solidFill>
                <a:latin typeface="Inter"/>
              </a:rPr>
              <a:t>Nearly 1 in 4 customers leaves. Each exit erases predictable monthly recurring revenue — and winning a replacement costs far more than keeping the original.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1828800"/>
            <a:ext cx="6199632" cy="1280160"/>
          </a:xfrm>
          <a:prstGeom prst="roundRect">
            <a:avLst>
              <a:gd name="adj" fmla="val 6000"/>
            </a:avLst>
          </a:prstGeom>
          <a:solidFill>
            <a:srgbClr val="FFFFFF">
              <a:alpha val="619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0680" y="2084832"/>
            <a:ext cx="73152" cy="768095"/>
          </a:xfrm>
          <a:prstGeom prst="roundRect">
            <a:avLst>
              <a:gd name="adj" fmla="val 50000"/>
            </a:avLst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2011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8763C"/>
                </a:solidFill>
                <a:latin typeface="Inter"/>
              </a:rPr>
              <a:t>The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395728"/>
            <a:ext cx="5532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A2520"/>
                </a:solidFill>
                <a:latin typeface="Inter"/>
              </a:rPr>
              <a:t>Telecom operates in a saturated, low-switching-cost market — customers leave quietly and without warning.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3200400"/>
            <a:ext cx="6199632" cy="1280160"/>
          </a:xfrm>
          <a:prstGeom prst="roundRect">
            <a:avLst>
              <a:gd name="adj" fmla="val 6000"/>
            </a:avLst>
          </a:prstGeom>
          <a:solidFill>
            <a:srgbClr val="FFFFFF">
              <a:alpha val="619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40680" y="3456432"/>
            <a:ext cx="73152" cy="768095"/>
          </a:xfrm>
          <a:prstGeom prst="roundRect">
            <a:avLst>
              <a:gd name="adj" fmla="val 50000"/>
            </a:avLst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0" y="33832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8763C"/>
                </a:solidFill>
                <a:latin typeface="Inter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3767328"/>
            <a:ext cx="5532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A2520"/>
                </a:solidFill>
                <a:latin typeface="Inter"/>
              </a:rPr>
              <a:t>Retention is cheaper than acquisition. Even a small reduction in churn compounds into significant protected revenue.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0" y="4572000"/>
            <a:ext cx="6199632" cy="1280160"/>
          </a:xfrm>
          <a:prstGeom prst="roundRect">
            <a:avLst>
              <a:gd name="adj" fmla="val 6000"/>
            </a:avLst>
          </a:prstGeom>
          <a:solidFill>
            <a:srgbClr val="FFFFFF">
              <a:alpha val="619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40680" y="4828032"/>
            <a:ext cx="73152" cy="768095"/>
          </a:xfrm>
          <a:prstGeom prst="roundRect">
            <a:avLst>
              <a:gd name="adj" fmla="val 50000"/>
            </a:avLst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0" y="47548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8763C"/>
                </a:solidFill>
                <a:latin typeface="Inter"/>
              </a:rPr>
              <a:t>The Objective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5138928"/>
            <a:ext cx="5532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A2520"/>
                </a:solidFill>
                <a:latin typeface="Inter"/>
              </a:rPr>
              <a:t>Predict who will churn before they leave, explain why, and prioritise proactive retention spend.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6419088"/>
            <a:ext cx="10634472" cy="12700"/>
          </a:xfrm>
          <a:prstGeom prst="rect">
            <a:avLst/>
          </a:prstGeom>
          <a:solidFill>
            <a:srgbClr val="C9BCA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A817A"/>
                </a:solidFill>
                <a:latin typeface="Inter"/>
              </a:rPr>
              <a:t>Predictive Customer Churn Modelling  ·  Persevex AI Internship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6473952"/>
            <a:ext cx="2267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8A817A"/>
                </a:solidFill>
                <a:latin typeface="Inter"/>
              </a:rPr>
              <a:t>Aaditiya Anjan   </a:t>
            </a:r>
            <a:r>
              <a:rPr sz="950" b="1">
                <a:solidFill>
                  <a:srgbClr val="E8763C"/>
                </a:solidFill>
                <a:latin typeface="Inter"/>
              </a:rPr>
              <a:t>03</a:t>
            </a:r>
            <a:r>
              <a:rPr sz="950" b="0">
                <a:solidFill>
                  <a:srgbClr val="8A817A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DF9"/>
              </a:gs>
              <a:gs pos="100000">
                <a:srgbClr val="F3E7D8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1463040"/>
            <a:ext cx="4754880" cy="4754880"/>
          </a:xfrm>
          <a:prstGeom prst="ellipse">
            <a:avLst/>
          </a:prstGeom>
          <a:solidFill>
            <a:srgbClr val="F6C9A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F2C079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763C"/>
                </a:solidFill>
                <a:latin typeface="Inter"/>
              </a:rPr>
              <a:t>03  · 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68096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2A2520"/>
                </a:solidFill>
                <a:latin typeface="Inter"/>
              </a:rPr>
              <a:t>An end-to-end, eight-stage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3154680"/>
            <a:ext cx="178961" cy="25400"/>
          </a:xfrm>
          <a:prstGeom prst="rect">
            <a:avLst/>
          </a:prstGeom>
          <a:solidFill>
            <a:srgbClr val="E8763C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286000"/>
            <a:ext cx="1188720" cy="1737360"/>
          </a:xfrm>
          <a:prstGeom prst="roundRect">
            <a:avLst>
              <a:gd name="adj" fmla="val 12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0432" y="2084831"/>
            <a:ext cx="402336" cy="402336"/>
          </a:xfrm>
          <a:prstGeom prst="ellipse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084831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97480"/>
            <a:ext cx="1097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>
                <a:solidFill>
                  <a:srgbClr val="2A2520"/>
                </a:solidFill>
                <a:latin typeface="Inter"/>
              </a:rPr>
              <a:t>Data
Cleaning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8444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8763C"/>
                </a:solidFill>
                <a:latin typeface="Inter"/>
              </a:rPr>
              <a:t>Fix types, nulls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5353" y="3154680"/>
            <a:ext cx="178961" cy="25400"/>
          </a:xfrm>
          <a:prstGeom prst="rect">
            <a:avLst/>
          </a:prstGeom>
          <a:solidFill>
            <a:srgbClr val="E8763C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26633" y="2286000"/>
            <a:ext cx="1188720" cy="1737360"/>
          </a:xfrm>
          <a:prstGeom prst="roundRect">
            <a:avLst>
              <a:gd name="adj" fmla="val 12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519825" y="2084831"/>
            <a:ext cx="402336" cy="402336"/>
          </a:xfrm>
          <a:prstGeom prst="ellipse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9825" y="2084831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2353" y="2697480"/>
            <a:ext cx="1097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>
                <a:solidFill>
                  <a:srgbClr val="2A2520"/>
                </a:solidFill>
                <a:latin typeface="Inter"/>
              </a:rPr>
              <a:t>Exploratory
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72353" y="358444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8763C"/>
                </a:solidFill>
                <a:latin typeface="Inter"/>
              </a:rPr>
              <a:t>Find risk patterns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4746" y="3154680"/>
            <a:ext cx="178961" cy="25400"/>
          </a:xfrm>
          <a:prstGeom prst="rect">
            <a:avLst/>
          </a:prstGeom>
          <a:solidFill>
            <a:srgbClr val="E8763C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76026" y="2286000"/>
            <a:ext cx="1188720" cy="1737360"/>
          </a:xfrm>
          <a:prstGeom prst="roundRect">
            <a:avLst>
              <a:gd name="adj" fmla="val 12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69218" y="2084831"/>
            <a:ext cx="402336" cy="402336"/>
          </a:xfrm>
          <a:prstGeom prst="ellipse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69218" y="2084831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1746" y="2697480"/>
            <a:ext cx="1097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>
                <a:solidFill>
                  <a:srgbClr val="2A2520"/>
                </a:solidFill>
                <a:latin typeface="Inter"/>
              </a:rPr>
              <a:t>Hypothesis
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1746" y="358444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8763C"/>
                </a:solidFill>
                <a:latin typeface="Inter"/>
              </a:rPr>
              <a:t>Validate signals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14139" y="3154680"/>
            <a:ext cx="178961" cy="25400"/>
          </a:xfrm>
          <a:prstGeom prst="rect">
            <a:avLst/>
          </a:prstGeom>
          <a:solidFill>
            <a:srgbClr val="E8763C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25419" y="2286000"/>
            <a:ext cx="1188720" cy="1737360"/>
          </a:xfrm>
          <a:prstGeom prst="roundRect">
            <a:avLst>
              <a:gd name="adj" fmla="val 12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218611" y="2084831"/>
            <a:ext cx="402336" cy="402336"/>
          </a:xfrm>
          <a:prstGeom prst="ellipse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8611" y="2084831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1139" y="2697480"/>
            <a:ext cx="1097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>
                <a:solidFill>
                  <a:srgbClr val="2A2520"/>
                </a:solidFill>
                <a:latin typeface="Inter"/>
              </a:rPr>
              <a:t>Feature
Engineering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71139" y="358444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8763C"/>
                </a:solidFill>
                <a:latin typeface="Inter"/>
              </a:rPr>
              <a:t>10 new features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63532" y="3154680"/>
            <a:ext cx="178961" cy="25400"/>
          </a:xfrm>
          <a:prstGeom prst="rect">
            <a:avLst/>
          </a:prstGeom>
          <a:solidFill>
            <a:srgbClr val="E8763C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74812" y="2286000"/>
            <a:ext cx="1188720" cy="1737360"/>
          </a:xfrm>
          <a:prstGeom prst="roundRect">
            <a:avLst>
              <a:gd name="adj" fmla="val 12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68004" y="2084831"/>
            <a:ext cx="402336" cy="402336"/>
          </a:xfrm>
          <a:prstGeom prst="ellipse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68004" y="2084831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20532" y="2697480"/>
            <a:ext cx="1097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>
                <a:solidFill>
                  <a:srgbClr val="2A2520"/>
                </a:solidFill>
                <a:latin typeface="Inter"/>
              </a:rPr>
              <a:t>Encoding &amp;
Scaling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20532" y="358444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8763C"/>
                </a:solidFill>
                <a:latin typeface="Inter"/>
              </a:rPr>
              <a:t>47 model features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12925" y="3154680"/>
            <a:ext cx="178961" cy="25400"/>
          </a:xfrm>
          <a:prstGeom prst="rect">
            <a:avLst/>
          </a:prstGeom>
          <a:solidFill>
            <a:srgbClr val="E8763C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524205" y="2286000"/>
            <a:ext cx="1188720" cy="1737360"/>
          </a:xfrm>
          <a:prstGeom prst="roundRect">
            <a:avLst>
              <a:gd name="adj" fmla="val 12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917397" y="2084831"/>
            <a:ext cx="402336" cy="402336"/>
          </a:xfrm>
          <a:prstGeom prst="ellipse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17397" y="2084831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69925" y="2697480"/>
            <a:ext cx="1097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>
                <a:solidFill>
                  <a:srgbClr val="2A2520"/>
                </a:solidFill>
                <a:latin typeface="Inter"/>
              </a:rPr>
              <a:t>Model
Building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69925" y="358444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8763C"/>
                </a:solidFill>
                <a:latin typeface="Inter"/>
              </a:rPr>
              <a:t>4 algorithms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62318" y="3154680"/>
            <a:ext cx="178961" cy="25400"/>
          </a:xfrm>
          <a:prstGeom prst="rect">
            <a:avLst/>
          </a:prstGeom>
          <a:solidFill>
            <a:srgbClr val="E8763C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873598" y="2286000"/>
            <a:ext cx="1188720" cy="1737360"/>
          </a:xfrm>
          <a:prstGeom prst="roundRect">
            <a:avLst>
              <a:gd name="adj" fmla="val 12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266790" y="2084831"/>
            <a:ext cx="402336" cy="402336"/>
          </a:xfrm>
          <a:prstGeom prst="ellipse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66790" y="2084831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19318" y="2697480"/>
            <a:ext cx="1097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>
                <a:solidFill>
                  <a:srgbClr val="2A2520"/>
                </a:solidFill>
                <a:latin typeface="Inter"/>
              </a:rPr>
              <a:t>SHAP
Analysis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19318" y="358444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8763C"/>
                </a:solidFill>
                <a:latin typeface="Inter"/>
              </a:rPr>
              <a:t>Why it predicts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222992" y="2286000"/>
            <a:ext cx="1188720" cy="1737360"/>
          </a:xfrm>
          <a:prstGeom prst="roundRect">
            <a:avLst>
              <a:gd name="adj" fmla="val 12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616184" y="2084831"/>
            <a:ext cx="402336" cy="402336"/>
          </a:xfrm>
          <a:prstGeom prst="ellipse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16184" y="2084831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68712" y="2697480"/>
            <a:ext cx="1097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>
                <a:solidFill>
                  <a:srgbClr val="2A2520"/>
                </a:solidFill>
                <a:latin typeface="Inter"/>
              </a:rPr>
              <a:t>Business
Strategy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68712" y="358444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8763C"/>
                </a:solidFill>
                <a:latin typeface="Inter"/>
              </a:rPr>
              <a:t>Retention plan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7240" y="4754880"/>
            <a:ext cx="10634472" cy="1143000"/>
          </a:xfrm>
          <a:prstGeom prst="roundRect">
            <a:avLst>
              <a:gd name="adj" fmla="val 6000"/>
            </a:avLst>
          </a:prstGeom>
          <a:solidFill>
            <a:srgbClr val="FFFFFF">
              <a:alpha val="602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97280" y="4983480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763C"/>
                </a:solidFill>
                <a:latin typeface="Inter"/>
              </a:rPr>
              <a:t>Principle:  </a:t>
            </a:r>
            <a:r>
              <a:rPr sz="1500" b="0">
                <a:solidFill>
                  <a:srgbClr val="2A2520"/>
                </a:solidFill>
                <a:latin typeface="Inter"/>
              </a:rPr>
              <a:t>every stage feeds a business decision — the pipeline ends in money saved, not just a metric.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7240" y="6419088"/>
            <a:ext cx="10634472" cy="12700"/>
          </a:xfrm>
          <a:prstGeom prst="rect">
            <a:avLst/>
          </a:prstGeom>
          <a:solidFill>
            <a:srgbClr val="C9BCA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A817A"/>
                </a:solidFill>
                <a:latin typeface="Inter"/>
              </a:rPr>
              <a:t>Predictive Customer Churn Modelling  ·  Persevex AI Internship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0" y="6473952"/>
            <a:ext cx="2267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8A817A"/>
                </a:solidFill>
                <a:latin typeface="Inter"/>
              </a:rPr>
              <a:t>Aaditiya Anjan   </a:t>
            </a:r>
            <a:r>
              <a:rPr sz="950" b="1">
                <a:solidFill>
                  <a:srgbClr val="E8763C"/>
                </a:solidFill>
                <a:latin typeface="Inter"/>
              </a:rPr>
              <a:t>04</a:t>
            </a:r>
            <a:r>
              <a:rPr sz="950" b="0">
                <a:solidFill>
                  <a:srgbClr val="8A817A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DF9"/>
              </a:gs>
              <a:gs pos="100000">
                <a:srgbClr val="F3E7D8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1463040"/>
            <a:ext cx="4754880" cy="4754880"/>
          </a:xfrm>
          <a:prstGeom prst="ellipse">
            <a:avLst/>
          </a:prstGeom>
          <a:solidFill>
            <a:srgbClr val="F6C9A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F2C079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763C"/>
                </a:solidFill>
                <a:latin typeface="Inter"/>
              </a:rPr>
              <a:t>04  ·  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68096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2A2520"/>
                </a:solidFill>
                <a:latin typeface="Inter"/>
              </a:rPr>
              <a:t>Telco Customer Churn Dataset</a:t>
            </a:r>
          </a:p>
        </p:txBody>
      </p:sp>
      <p:pic>
        <p:nvPicPr>
          <p:cNvPr id="7" name="Picture 6" descr="churn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783080"/>
            <a:ext cx="3931920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562356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763C"/>
                </a:solidFill>
                <a:latin typeface="Inter"/>
              </a:rPr>
              <a:t>Churn </a:t>
            </a:r>
            <a:r>
              <a:rPr sz="1300" b="1">
                <a:solidFill>
                  <a:srgbClr val="2A2520"/>
                </a:solidFill>
                <a:latin typeface="Inter"/>
              </a:rPr>
              <a:t>26.5%</a:t>
            </a:r>
            <a:r>
              <a:rPr sz="1300" b="0">
                <a:solidFill>
                  <a:srgbClr val="8A817A"/>
                </a:solidFill>
                <a:latin typeface="Inter"/>
              </a:rPr>
              <a:t>    ·    Retained </a:t>
            </a:r>
            <a:r>
              <a:rPr sz="1300" b="1">
                <a:solidFill>
                  <a:srgbClr val="2A2520"/>
                </a:solidFill>
                <a:latin typeface="Inter"/>
              </a:rPr>
              <a:t>73.5%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3246120" cy="1463040"/>
          </a:xfrm>
          <a:prstGeom prst="roundRect">
            <a:avLst>
              <a:gd name="adj" fmla="val 6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062886"/>
            <a:ext cx="291693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E8763C"/>
                </a:solidFill>
                <a:latin typeface="Inter"/>
              </a:rPr>
              <a:t>7,043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706624"/>
            <a:ext cx="2916936" cy="4974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8A817A"/>
                </a:solidFill>
                <a:latin typeface="Inter"/>
              </a:rPr>
              <a:t>CUSTOMERS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246120" cy="1463040"/>
          </a:xfrm>
          <a:prstGeom prst="roundRect">
            <a:avLst>
              <a:gd name="adj" fmla="val 6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1" y="2062886"/>
            <a:ext cx="291693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2A33C"/>
                </a:solidFill>
                <a:latin typeface="Inter"/>
              </a:rPr>
              <a:t>21 → 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1" y="2706624"/>
            <a:ext cx="2916936" cy="4974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8A817A"/>
                </a:solidFill>
                <a:latin typeface="Inter"/>
              </a:rPr>
              <a:t>RAW → MODEL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474720"/>
            <a:ext cx="3246120" cy="1463040"/>
          </a:xfrm>
          <a:prstGeom prst="roundRect">
            <a:avLst>
              <a:gd name="adj" fmla="val 6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708806"/>
            <a:ext cx="291693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E8763C"/>
                </a:solidFill>
                <a:latin typeface="Inter"/>
              </a:rPr>
              <a:t>Churn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352544"/>
            <a:ext cx="2916936" cy="4974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8A817A"/>
                </a:solidFill>
                <a:latin typeface="Inter"/>
              </a:rPr>
              <a:t>TARGET VARIABLE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3474720"/>
            <a:ext cx="3246120" cy="1463040"/>
          </a:xfrm>
          <a:prstGeom prst="roundRect">
            <a:avLst>
              <a:gd name="adj" fmla="val 6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1" y="3708806"/>
            <a:ext cx="291693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2A33C"/>
                </a:solidFill>
                <a:latin typeface="Inter"/>
              </a:rPr>
              <a:t>80 /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1" y="4352544"/>
            <a:ext cx="2916936" cy="4974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8A817A"/>
                </a:solidFill>
                <a:latin typeface="Inter"/>
              </a:rPr>
              <a:t>STRATIFIED SPLIT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74920"/>
            <a:ext cx="6858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8A817A"/>
                </a:solidFill>
                <a:latin typeface="Inter"/>
              </a:rPr>
              <a:t>Customer demographics, subscribed services, contract terms and billing history — a 360° view of each account, with churn as the outcome to predict.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6419088"/>
            <a:ext cx="10634472" cy="12700"/>
          </a:xfrm>
          <a:prstGeom prst="rect">
            <a:avLst/>
          </a:prstGeom>
          <a:solidFill>
            <a:srgbClr val="C9BCA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A817A"/>
                </a:solidFill>
                <a:latin typeface="Inter"/>
              </a:rPr>
              <a:t>Predictive Customer Churn Modelling  ·  Persevex AI Internship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73952"/>
            <a:ext cx="2267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8A817A"/>
                </a:solidFill>
                <a:latin typeface="Inter"/>
              </a:rPr>
              <a:t>Aaditiya Anjan   </a:t>
            </a:r>
            <a:r>
              <a:rPr sz="950" b="1">
                <a:solidFill>
                  <a:srgbClr val="E8763C"/>
                </a:solidFill>
                <a:latin typeface="Inter"/>
              </a:rPr>
              <a:t>05</a:t>
            </a:r>
            <a:r>
              <a:rPr sz="950" b="0">
                <a:solidFill>
                  <a:srgbClr val="8A817A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DF9"/>
              </a:gs>
              <a:gs pos="100000">
                <a:srgbClr val="F3E7D8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1463040"/>
            <a:ext cx="4754880" cy="4754880"/>
          </a:xfrm>
          <a:prstGeom prst="ellipse">
            <a:avLst/>
          </a:prstGeom>
          <a:solidFill>
            <a:srgbClr val="F6C9A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F2C079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763C"/>
                </a:solidFill>
                <a:latin typeface="Inter"/>
              </a:rPr>
              <a:t>05  ·  EXPLORATORY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68096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2A2520"/>
                </a:solidFill>
                <a:latin typeface="Inter"/>
              </a:rPr>
              <a:t>Churn concentrates in a few </a:t>
            </a:r>
            <a:r>
              <a:rPr sz="3300" b="1">
                <a:solidFill>
                  <a:srgbClr val="E8763C"/>
                </a:solidFill>
                <a:latin typeface="Inter"/>
              </a:rPr>
              <a:t>high-risk segments</a:t>
            </a:r>
          </a:p>
        </p:txBody>
      </p:sp>
      <p:pic>
        <p:nvPicPr>
          <p:cNvPr id="7" name="Picture 6" descr="eda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7040880" cy="311499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55279" y="1828800"/>
            <a:ext cx="3456432" cy="1298448"/>
          </a:xfrm>
          <a:prstGeom prst="roundRect">
            <a:avLst>
              <a:gd name="adj" fmla="val 6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956816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763C"/>
                </a:solidFill>
                <a:latin typeface="Inter"/>
              </a:rPr>
              <a:t>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28600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0584A"/>
                </a:solidFill>
                <a:latin typeface="Inter"/>
              </a:rPr>
              <a:t>42.7%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7432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817A"/>
                </a:solidFill>
                <a:latin typeface="Inter"/>
              </a:rPr>
              <a:t>Month-to-month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1240" y="22860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4F9D86"/>
                </a:solidFill>
                <a:latin typeface="Inter"/>
              </a:rPr>
              <a:t>2.8%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21240" y="27432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817A"/>
                </a:solidFill>
                <a:latin typeface="Inter"/>
              </a:rPr>
              <a:t>Two-year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236976"/>
            <a:ext cx="3456432" cy="1298448"/>
          </a:xfrm>
          <a:prstGeom prst="roundRect">
            <a:avLst>
              <a:gd name="adj" fmla="val 6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336499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763C"/>
                </a:solidFill>
                <a:latin typeface="Inter"/>
              </a:rPr>
              <a:t>TENURE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369417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0584A"/>
                </a:solidFill>
                <a:latin typeface="Inter"/>
              </a:rPr>
              <a:t>47.4%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15137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817A"/>
                </a:solidFill>
                <a:latin typeface="Inter"/>
              </a:rPr>
              <a:t>First 12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369417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4F9D86"/>
                </a:solidFill>
                <a:latin typeface="Inter"/>
              </a:rPr>
              <a:t>6.6%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415137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817A"/>
                </a:solidFill>
                <a:latin typeface="Inter"/>
              </a:rPr>
              <a:t>60–72 months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4645152"/>
            <a:ext cx="3456432" cy="1298448"/>
          </a:xfrm>
          <a:prstGeom prst="roundRect">
            <a:avLst>
              <a:gd name="adj" fmla="val 6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477316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763C"/>
                </a:solidFill>
                <a:latin typeface="Inter"/>
              </a:rPr>
              <a:t>BUNDLING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510235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0584A"/>
                </a:solidFill>
                <a:latin typeface="Inter"/>
              </a:rPr>
              <a:t>43.8%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555955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817A"/>
                </a:solidFill>
                <a:latin typeface="Inter"/>
              </a:rPr>
              <a:t>0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510235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4F9D86"/>
                </a:solidFill>
                <a:latin typeface="Inter"/>
              </a:rPr>
              <a:t>5.3%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55595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817A"/>
                </a:solidFill>
                <a:latin typeface="Inter"/>
              </a:rPr>
              <a:t>8 services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6419088"/>
            <a:ext cx="10634472" cy="12700"/>
          </a:xfrm>
          <a:prstGeom prst="rect">
            <a:avLst/>
          </a:prstGeom>
          <a:solidFill>
            <a:srgbClr val="C9BCA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A817A"/>
                </a:solidFill>
                <a:latin typeface="Inter"/>
              </a:rPr>
              <a:t>Predictive Customer Churn Modelling  ·  Persevex AI Internship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473952"/>
            <a:ext cx="2267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8A817A"/>
                </a:solidFill>
                <a:latin typeface="Inter"/>
              </a:rPr>
              <a:t>Aaditiya Anjan   </a:t>
            </a:r>
            <a:r>
              <a:rPr sz="950" b="1">
                <a:solidFill>
                  <a:srgbClr val="E8763C"/>
                </a:solidFill>
                <a:latin typeface="Inter"/>
              </a:rPr>
              <a:t>06</a:t>
            </a:r>
            <a:r>
              <a:rPr sz="950" b="0">
                <a:solidFill>
                  <a:srgbClr val="8A817A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DF9"/>
              </a:gs>
              <a:gs pos="100000">
                <a:srgbClr val="F3E7D8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1463040"/>
            <a:ext cx="4754880" cy="4754880"/>
          </a:xfrm>
          <a:prstGeom prst="ellipse">
            <a:avLst/>
          </a:prstGeom>
          <a:solidFill>
            <a:srgbClr val="F6C9A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F2C079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763C"/>
                </a:solidFill>
                <a:latin typeface="Inter"/>
              </a:rPr>
              <a:t>06  ·  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68096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2A2520"/>
                </a:solidFill>
                <a:latin typeface="Inter"/>
              </a:rPr>
              <a:t>10 features that encode </a:t>
            </a:r>
            <a:r>
              <a:rPr sz="3300" b="1">
                <a:solidFill>
                  <a:srgbClr val="E8763C"/>
                </a:solidFill>
                <a:latin typeface="Inter"/>
              </a:rPr>
              <a:t>loyalty &amp;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56432" cy="658368"/>
          </a:xfrm>
          <a:prstGeom prst="roundRect">
            <a:avLst>
              <a:gd name="adj" fmla="val 18000"/>
            </a:avLst>
          </a:prstGeom>
          <a:solidFill>
            <a:srgbClr val="FFFFFF">
              <a:alpha val="619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832" y="2112264"/>
            <a:ext cx="91440" cy="91440"/>
          </a:xfrm>
          <a:prstGeom prst="ellipse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1828800"/>
            <a:ext cx="295351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A2520"/>
                </a:solidFill>
                <a:latin typeface="Inter"/>
              </a:rPr>
              <a:t>ContractRiskScore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828800"/>
            <a:ext cx="3456432" cy="658368"/>
          </a:xfrm>
          <a:prstGeom prst="roundRect">
            <a:avLst>
              <a:gd name="adj" fmla="val 18000"/>
            </a:avLst>
          </a:prstGeom>
          <a:solidFill>
            <a:srgbClr val="FFFFFF">
              <a:alpha val="619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44568" y="2112264"/>
            <a:ext cx="91440" cy="91440"/>
          </a:xfrm>
          <a:prstGeom prst="ellipse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64024" y="1828800"/>
            <a:ext cx="295351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A2520"/>
                </a:solidFill>
                <a:latin typeface="Inter"/>
              </a:rPr>
              <a:t>ServiceCount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2712" y="1828800"/>
            <a:ext cx="3456432" cy="658368"/>
          </a:xfrm>
          <a:prstGeom prst="roundRect">
            <a:avLst>
              <a:gd name="adj" fmla="val 18000"/>
            </a:avLst>
          </a:prstGeom>
          <a:solidFill>
            <a:srgbClr val="FFFFFF">
              <a:alpha val="619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47304" y="2112264"/>
            <a:ext cx="91440" cy="91440"/>
          </a:xfrm>
          <a:prstGeom prst="ellipse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828800"/>
            <a:ext cx="295351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A2520"/>
                </a:solidFill>
                <a:latin typeface="Inter"/>
              </a:rPr>
              <a:t>AverageMonthlySpend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633472"/>
            <a:ext cx="3456432" cy="658368"/>
          </a:xfrm>
          <a:prstGeom prst="roundRect">
            <a:avLst>
              <a:gd name="adj" fmla="val 18000"/>
            </a:avLst>
          </a:prstGeom>
          <a:solidFill>
            <a:srgbClr val="FFFFFF">
              <a:alpha val="619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1832" y="2916936"/>
            <a:ext cx="91440" cy="91440"/>
          </a:xfrm>
          <a:prstGeom prst="ellipse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1288" y="2633472"/>
            <a:ext cx="295351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A2520"/>
                </a:solidFill>
                <a:latin typeface="Inter"/>
              </a:rPr>
              <a:t>LongTermCustomer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9976" y="2633472"/>
            <a:ext cx="3456432" cy="658368"/>
          </a:xfrm>
          <a:prstGeom prst="roundRect">
            <a:avLst>
              <a:gd name="adj" fmla="val 18000"/>
            </a:avLst>
          </a:prstGeom>
          <a:solidFill>
            <a:srgbClr val="FFFFFF">
              <a:alpha val="619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916936"/>
            <a:ext cx="91440" cy="91440"/>
          </a:xfrm>
          <a:prstGeom prst="ellipse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2633472"/>
            <a:ext cx="295351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A2520"/>
                </a:solidFill>
                <a:latin typeface="Inter"/>
              </a:rPr>
              <a:t>PremiumServiceFlag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82712" y="2633472"/>
            <a:ext cx="3456432" cy="658368"/>
          </a:xfrm>
          <a:prstGeom prst="roundRect">
            <a:avLst>
              <a:gd name="adj" fmla="val 18000"/>
            </a:avLst>
          </a:prstGeom>
          <a:solidFill>
            <a:srgbClr val="FFFFFF">
              <a:alpha val="619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47304" y="2916936"/>
            <a:ext cx="91440" cy="91440"/>
          </a:xfrm>
          <a:prstGeom prst="ellipse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2633472"/>
            <a:ext cx="295351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A2520"/>
                </a:solidFill>
                <a:latin typeface="Inter"/>
              </a:rPr>
              <a:t>BundleScore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438144"/>
            <a:ext cx="3456432" cy="658368"/>
          </a:xfrm>
          <a:prstGeom prst="roundRect">
            <a:avLst>
              <a:gd name="adj" fmla="val 18000"/>
            </a:avLst>
          </a:prstGeom>
          <a:solidFill>
            <a:srgbClr val="FFFFFF">
              <a:alpha val="619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1832" y="3721608"/>
            <a:ext cx="91440" cy="91440"/>
          </a:xfrm>
          <a:prstGeom prst="ellipse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61288" y="3438144"/>
            <a:ext cx="295351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A2520"/>
                </a:solidFill>
                <a:latin typeface="Inter"/>
              </a:rPr>
              <a:t>TotalChargesPerTenure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79976" y="3438144"/>
            <a:ext cx="3456432" cy="658368"/>
          </a:xfrm>
          <a:prstGeom prst="roundRect">
            <a:avLst>
              <a:gd name="adj" fmla="val 18000"/>
            </a:avLst>
          </a:prstGeom>
          <a:solidFill>
            <a:srgbClr val="FFFFFF">
              <a:alpha val="619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44568" y="3721608"/>
            <a:ext cx="91440" cy="91440"/>
          </a:xfrm>
          <a:prstGeom prst="ellipse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64024" y="3438144"/>
            <a:ext cx="295351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A2520"/>
                </a:solidFill>
                <a:latin typeface="Inter"/>
              </a:rPr>
              <a:t>PremiumCustomerFlag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82712" y="3438144"/>
            <a:ext cx="3456432" cy="658368"/>
          </a:xfrm>
          <a:prstGeom prst="roundRect">
            <a:avLst>
              <a:gd name="adj" fmla="val 18000"/>
            </a:avLst>
          </a:prstGeom>
          <a:solidFill>
            <a:srgbClr val="FFFFFF">
              <a:alpha val="619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147304" y="3721608"/>
            <a:ext cx="91440" cy="91440"/>
          </a:xfrm>
          <a:prstGeom prst="ellipse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3438144"/>
            <a:ext cx="295351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A2520"/>
                </a:solidFill>
                <a:latin typeface="Inter"/>
              </a:rPr>
              <a:t>AutoPaymentFlag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4315968"/>
            <a:ext cx="10634472" cy="1417320"/>
          </a:xfrm>
          <a:prstGeom prst="roundRect">
            <a:avLst>
              <a:gd name="adj" fmla="val 6000"/>
            </a:avLst>
          </a:prstGeom>
          <a:solidFill>
            <a:srgbClr val="FFFFFF">
              <a:alpha val="70400"/>
            </a:srgbClr>
          </a:solidFill>
          <a:ln w="17780">
            <a:solidFill>
              <a:srgbClr val="E8763C">
                <a:alpha val="85000"/>
                <a:alpha val="50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451713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763C"/>
                </a:solidFill>
                <a:latin typeface="Inter"/>
              </a:rPr>
              <a:t>✦  </a:t>
            </a:r>
            <a:r>
              <a:rPr sz="2200" b="1">
                <a:solidFill>
                  <a:srgbClr val="E8763C"/>
                </a:solidFill>
                <a:latin typeface="Inter"/>
              </a:rPr>
              <a:t>LoyaltyScore</a:t>
            </a:r>
            <a:r>
              <a:rPr sz="1600" b="1">
                <a:solidFill>
                  <a:srgbClr val="2A2520"/>
                </a:solidFill>
                <a:latin typeface="Inter"/>
              </a:rPr>
              <a:t>   — the standout engineered feature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04748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8A817A"/>
                </a:solidFill>
                <a:latin typeface="Inter"/>
              </a:rPr>
              <a:t>Combines tenure, spend and contract length into a single loyalty signal — and emerged as one of the model's most important predictors of churn.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6419088"/>
            <a:ext cx="10634472" cy="12700"/>
          </a:xfrm>
          <a:prstGeom prst="rect">
            <a:avLst/>
          </a:prstGeom>
          <a:solidFill>
            <a:srgbClr val="C9BCA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A817A"/>
                </a:solidFill>
                <a:latin typeface="Inter"/>
              </a:rPr>
              <a:t>Predictive Customer Churn Modelling  ·  Persevex AI Internship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6473952"/>
            <a:ext cx="2267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8A817A"/>
                </a:solidFill>
                <a:latin typeface="Inter"/>
              </a:rPr>
              <a:t>Aaditiya Anjan   </a:t>
            </a:r>
            <a:r>
              <a:rPr sz="950" b="1">
                <a:solidFill>
                  <a:srgbClr val="E8763C"/>
                </a:solidFill>
                <a:latin typeface="Inter"/>
              </a:rPr>
              <a:t>07</a:t>
            </a:r>
            <a:r>
              <a:rPr sz="950" b="0">
                <a:solidFill>
                  <a:srgbClr val="8A817A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DF9"/>
              </a:gs>
              <a:gs pos="100000">
                <a:srgbClr val="F3E7D8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1463040"/>
            <a:ext cx="4754880" cy="4754880"/>
          </a:xfrm>
          <a:prstGeom prst="ellipse">
            <a:avLst/>
          </a:prstGeom>
          <a:solidFill>
            <a:srgbClr val="F6C9A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F2C079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763C"/>
                </a:solidFill>
                <a:latin typeface="Inter"/>
              </a:rPr>
              <a:t>07  ·  MODELLING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68096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2A2520"/>
                </a:solidFill>
                <a:latin typeface="Inter"/>
              </a:rPr>
              <a:t>Four algorithms, one fair contest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542032" cy="2468880"/>
          </a:xfrm>
          <a:prstGeom prst="roundRect">
            <a:avLst>
              <a:gd name="adj" fmla="val 6000"/>
            </a:avLst>
          </a:prstGeom>
          <a:solidFill>
            <a:srgbClr val="FFFFFF">
              <a:alpha val="619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208483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900" b="1">
                <a:solidFill>
                  <a:srgbClr val="2A2520"/>
                </a:solidFill>
                <a:latin typeface="Inter"/>
              </a:rPr>
              <a:t>Logistic
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46120"/>
            <a:ext cx="208483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8A817A"/>
                </a:solidFill>
                <a:latin typeface="Inter"/>
              </a:rPr>
              <a:t>Transparent linear baseline; odds ratios reveal direction of each driver.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542032" cy="2468880"/>
          </a:xfrm>
          <a:prstGeom prst="roundRect">
            <a:avLst>
              <a:gd name="adj" fmla="val 6000"/>
            </a:avLst>
          </a:prstGeom>
          <a:solidFill>
            <a:srgbClr val="FFFFFF">
              <a:alpha val="619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331720"/>
            <a:ext cx="208483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900" b="1">
                <a:solidFill>
                  <a:srgbClr val="2A2520"/>
                </a:solidFill>
                <a:latin typeface="Inter"/>
              </a:rPr>
              <a:t>Random
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246120"/>
            <a:ext cx="208483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8A817A"/>
                </a:solidFill>
                <a:latin typeface="Inter"/>
              </a:rPr>
              <a:t>Bagged trees capturing non-linear interactions; native feature importance.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199" y="1828800"/>
            <a:ext cx="2542032" cy="2468880"/>
          </a:xfrm>
          <a:prstGeom prst="roundRect">
            <a:avLst>
              <a:gd name="adj" fmla="val 6000"/>
            </a:avLst>
          </a:prstGeom>
          <a:solidFill>
            <a:srgbClr val="FFFFFF">
              <a:alpha val="70400"/>
            </a:srgbClr>
          </a:solidFill>
          <a:ln w="17780">
            <a:solidFill>
              <a:srgbClr val="E8763C">
                <a:alpha val="85000"/>
                <a:alpha val="5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1993392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763C"/>
                </a:solidFill>
                <a:latin typeface="Inter"/>
              </a:rPr>
              <a:t>★ CHAMPION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2331720"/>
            <a:ext cx="208483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900" b="1">
                <a:solidFill>
                  <a:srgbClr val="2A2520"/>
                </a:solidFill>
                <a:latin typeface="Inter"/>
              </a:rPr>
              <a:t>XGBoost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799" y="3246120"/>
            <a:ext cx="208483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8A817A"/>
                </a:solidFill>
                <a:latin typeface="Inter"/>
              </a:rPr>
              <a:t>Gradient boosting — the champion. Highest ROC-AUC and best churn recall.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828800"/>
            <a:ext cx="2542032" cy="2468880"/>
          </a:xfrm>
          <a:prstGeom prst="roundRect">
            <a:avLst>
              <a:gd name="adj" fmla="val 6000"/>
            </a:avLst>
          </a:prstGeom>
          <a:solidFill>
            <a:srgbClr val="FFFFFF">
              <a:alpha val="619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2331720"/>
            <a:ext cx="208483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900" b="1">
                <a:solidFill>
                  <a:srgbClr val="2A2520"/>
                </a:solidFill>
                <a:latin typeface="Inter"/>
              </a:rPr>
              <a:t>Support Vector
Machine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3246120"/>
            <a:ext cx="208483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8A817A"/>
                </a:solidFill>
                <a:latin typeface="Inter"/>
              </a:rPr>
              <a:t>Margin-based classifier; strong recall on the minority churn class.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526280"/>
            <a:ext cx="10634472" cy="1371600"/>
          </a:xfrm>
          <a:prstGeom prst="roundRect">
            <a:avLst>
              <a:gd name="adj" fmla="val 6000"/>
            </a:avLst>
          </a:prstGeom>
          <a:solidFill>
            <a:srgbClr val="FFFFFF">
              <a:alpha val="602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5488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8763C"/>
                </a:solidFill>
                <a:latin typeface="Inter"/>
              </a:rPr>
              <a:t>CLASS BALANCING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7492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A2520"/>
                </a:solidFill>
                <a:latin typeface="Inter"/>
              </a:rPr>
              <a:t>class_weight / scale_pos_weight for 26.5% imbalance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75488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8763C"/>
                </a:solidFill>
                <a:latin typeface="Inter"/>
              </a:rPr>
              <a:t>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07492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A2520"/>
                </a:solidFill>
                <a:latin typeface="Inter"/>
              </a:rPr>
              <a:t>Stratified 5-fold cross-validation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9" y="475488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8763C"/>
                </a:solidFill>
                <a:latin typeface="Inter"/>
              </a:rPr>
              <a:t>TUNING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507492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A2520"/>
                </a:solidFill>
                <a:latin typeface="Inter"/>
              </a:rPr>
              <a:t>GridSearch over 144 XGBoost configurations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6419088"/>
            <a:ext cx="10634472" cy="12700"/>
          </a:xfrm>
          <a:prstGeom prst="rect">
            <a:avLst/>
          </a:prstGeom>
          <a:solidFill>
            <a:srgbClr val="C9BCA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A817A"/>
                </a:solidFill>
                <a:latin typeface="Inter"/>
              </a:rPr>
              <a:t>Predictive Customer Churn Modelling  ·  Persevex AI Internship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6473952"/>
            <a:ext cx="2267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8A817A"/>
                </a:solidFill>
                <a:latin typeface="Inter"/>
              </a:rPr>
              <a:t>Aaditiya Anjan   </a:t>
            </a:r>
            <a:r>
              <a:rPr sz="950" b="1">
                <a:solidFill>
                  <a:srgbClr val="E8763C"/>
                </a:solidFill>
                <a:latin typeface="Inter"/>
              </a:rPr>
              <a:t>08</a:t>
            </a:r>
            <a:r>
              <a:rPr sz="950" b="0">
                <a:solidFill>
                  <a:srgbClr val="8A817A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DF9"/>
              </a:gs>
              <a:gs pos="100000">
                <a:srgbClr val="F3E7D8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1463040"/>
            <a:ext cx="4754880" cy="4754880"/>
          </a:xfrm>
          <a:prstGeom prst="ellipse">
            <a:avLst/>
          </a:prstGeom>
          <a:solidFill>
            <a:srgbClr val="F6C9A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F2C079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763C"/>
                </a:solidFill>
                <a:latin typeface="Inter"/>
              </a:rPr>
              <a:t>08  · 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68096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2A2520"/>
                </a:solidFill>
                <a:latin typeface="Inter"/>
              </a:rPr>
              <a:t>Model comparison — recall is the priority</a:t>
            </a:r>
          </a:p>
        </p:txBody>
      </p:sp>
      <p:pic>
        <p:nvPicPr>
          <p:cNvPr id="7" name="Picture 6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7223760" cy="36704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01000" y="1874519"/>
            <a:ext cx="3410712" cy="1298448"/>
          </a:xfrm>
          <a:prstGeom prst="roundRect">
            <a:avLst>
              <a:gd name="adj" fmla="val 6000"/>
            </a:avLst>
          </a:prstGeom>
          <a:solidFill>
            <a:srgbClr val="FFFFFF">
              <a:alpha val="653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03911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763C"/>
                </a:solidFill>
                <a:latin typeface="Inter"/>
              </a:rPr>
              <a:t>0.846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606039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A817A"/>
                </a:solidFill>
                <a:latin typeface="Inter"/>
              </a:rPr>
              <a:t>CHAMPION ROC-AUC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86207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A2520"/>
                </a:solidFill>
                <a:latin typeface="Inter"/>
              </a:rPr>
              <a:t>XGBoost (Tuned)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3282696"/>
            <a:ext cx="3410712" cy="1298448"/>
          </a:xfrm>
          <a:prstGeom prst="roundRect">
            <a:avLst>
              <a:gd name="adj" fmla="val 6000"/>
            </a:avLst>
          </a:prstGeom>
          <a:solidFill>
            <a:srgbClr val="FFFFFF">
              <a:alpha val="653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447288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2A33C"/>
                </a:solidFill>
                <a:latin typeface="Inter"/>
              </a:rPr>
              <a:t>0.848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014215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A817A"/>
                </a:solidFill>
                <a:latin typeface="Inter"/>
              </a:rPr>
              <a:t>CROSS-VAL ROC-AUC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27024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A2520"/>
                </a:solidFill>
                <a:latin typeface="Inter"/>
              </a:rPr>
              <a:t>± 0.010 — stable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4690872"/>
            <a:ext cx="3410712" cy="1298448"/>
          </a:xfrm>
          <a:prstGeom prst="roundRect">
            <a:avLst>
              <a:gd name="adj" fmla="val 6000"/>
            </a:avLst>
          </a:prstGeom>
          <a:solidFill>
            <a:srgbClr val="FFFFFF">
              <a:alpha val="653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855464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763C"/>
                </a:solidFill>
                <a:latin typeface="Inter"/>
              </a:rPr>
              <a:t>80.5%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42239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A817A"/>
                </a:solidFill>
                <a:latin typeface="Inter"/>
              </a:rPr>
              <a:t>CHURN 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67842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A2520"/>
                </a:solidFill>
                <a:latin typeface="Inter"/>
              </a:rPr>
              <a:t>Catches most leavers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6419088"/>
            <a:ext cx="10634472" cy="12700"/>
          </a:xfrm>
          <a:prstGeom prst="rect">
            <a:avLst/>
          </a:prstGeom>
          <a:solidFill>
            <a:srgbClr val="C9BCA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A817A"/>
                </a:solidFill>
                <a:latin typeface="Inter"/>
              </a:rPr>
              <a:t>Predictive Customer Churn Modelling  ·  Persevex AI Internship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473952"/>
            <a:ext cx="2267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8A817A"/>
                </a:solidFill>
                <a:latin typeface="Inter"/>
              </a:rPr>
              <a:t>Aaditiya Anjan   </a:t>
            </a:r>
            <a:r>
              <a:rPr sz="950" b="1">
                <a:solidFill>
                  <a:srgbClr val="E8763C"/>
                </a:solidFill>
                <a:latin typeface="Inter"/>
              </a:rPr>
              <a:t>09</a:t>
            </a:r>
            <a:r>
              <a:rPr sz="950" b="0">
                <a:solidFill>
                  <a:srgbClr val="8A817A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DF9"/>
              </a:gs>
              <a:gs pos="100000">
                <a:srgbClr val="F3E7D8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1463040"/>
            <a:ext cx="4754880" cy="4754880"/>
          </a:xfrm>
          <a:prstGeom prst="ellipse">
            <a:avLst/>
          </a:prstGeom>
          <a:solidFill>
            <a:srgbClr val="F6C9A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F2C079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763C"/>
                </a:solidFill>
                <a:latin typeface="Inter"/>
              </a:rPr>
              <a:t>09  ·  CHAMPION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68096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2A2520"/>
                </a:solidFill>
                <a:latin typeface="Inter"/>
              </a:rPr>
              <a:t>XGBoost — </a:t>
            </a:r>
            <a:r>
              <a:rPr sz="3300" b="1">
                <a:solidFill>
                  <a:srgbClr val="E8763C"/>
                </a:solidFill>
                <a:latin typeface="Inter"/>
              </a:rPr>
              <a:t>catches 4 in 5 churners</a:t>
            </a:r>
          </a:p>
        </p:txBody>
      </p:sp>
      <p:pic>
        <p:nvPicPr>
          <p:cNvPr id="7" name="Picture 6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4133546" cy="3840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766560" y="1828800"/>
            <a:ext cx="2240280" cy="1325880"/>
          </a:xfrm>
          <a:prstGeom prst="roundRect">
            <a:avLst>
              <a:gd name="adj" fmla="val 6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31152" y="2040940"/>
            <a:ext cx="1911096" cy="6629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E8763C"/>
                </a:solidFill>
                <a:latin typeface="Inter"/>
              </a:rPr>
              <a:t>0.846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1152" y="2624328"/>
            <a:ext cx="1911096" cy="450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8A817A"/>
                </a:solidFill>
                <a:latin typeface="Inter"/>
              </a:rPr>
              <a:t>ROC-AUC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1828800"/>
            <a:ext cx="2240280" cy="1325880"/>
          </a:xfrm>
          <a:prstGeom prst="roundRect">
            <a:avLst>
              <a:gd name="adj" fmla="val 6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54312" y="2040940"/>
            <a:ext cx="1911096" cy="6629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2A33C"/>
                </a:solidFill>
                <a:latin typeface="Inter"/>
              </a:rPr>
              <a:t>80.5%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54312" y="2624328"/>
            <a:ext cx="1911096" cy="450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8A817A"/>
                </a:solidFill>
                <a:latin typeface="Inter"/>
              </a:rPr>
              <a:t>RECALL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3337560"/>
            <a:ext cx="2240280" cy="1325880"/>
          </a:xfrm>
          <a:prstGeom prst="roundRect">
            <a:avLst>
              <a:gd name="adj" fmla="val 6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1152" y="3549700"/>
            <a:ext cx="1911096" cy="6629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E8763C"/>
                </a:solidFill>
                <a:latin typeface="Inter"/>
              </a:rPr>
              <a:t>0.630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4133087"/>
            <a:ext cx="1911096" cy="450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8A817A"/>
                </a:solidFill>
                <a:latin typeface="Inter"/>
              </a:rPr>
              <a:t>F1 SCORE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3337560"/>
            <a:ext cx="2240280" cy="1325880"/>
          </a:xfrm>
          <a:prstGeom prst="roundRect">
            <a:avLst>
              <a:gd name="adj" fmla="val 6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54312" y="3549700"/>
            <a:ext cx="1911096" cy="6629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2A33C"/>
                </a:solidFill>
                <a:latin typeface="Inter"/>
              </a:rPr>
              <a:t>0.848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54312" y="4133087"/>
            <a:ext cx="1911096" cy="450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8A817A"/>
                </a:solidFill>
                <a:latin typeface="Inter"/>
              </a:rPr>
              <a:t>CV ROC-AUC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4663440"/>
            <a:ext cx="4663440" cy="1005840"/>
          </a:xfrm>
          <a:prstGeom prst="roundRect">
            <a:avLst>
              <a:gd name="adj" fmla="val 6000"/>
            </a:avLst>
          </a:prstGeom>
          <a:solidFill>
            <a:srgbClr val="FFFFFF">
              <a:alpha val="619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4828032"/>
            <a:ext cx="42976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E8763C"/>
                </a:solidFill>
                <a:latin typeface="Inter"/>
              </a:rPr>
              <a:t>301 of 374 </a:t>
            </a:r>
            <a:r>
              <a:rPr sz="1350" b="0">
                <a:solidFill>
                  <a:srgbClr val="2A2520"/>
                </a:solidFill>
                <a:latin typeface="Inter"/>
              </a:rPr>
              <a:t>real churners correctly flagged — the model prioritises catching leavers over avoiding false alarms.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6419088"/>
            <a:ext cx="10634472" cy="12700"/>
          </a:xfrm>
          <a:prstGeom prst="rect">
            <a:avLst/>
          </a:prstGeom>
          <a:solidFill>
            <a:srgbClr val="C9BCA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A817A"/>
                </a:solidFill>
                <a:latin typeface="Inter"/>
              </a:rPr>
              <a:t>Predictive Customer Churn Modelling  ·  Persevex AI Internship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73952"/>
            <a:ext cx="2267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8A817A"/>
                </a:solidFill>
                <a:latin typeface="Inter"/>
              </a:rPr>
              <a:t>Aaditiya Anjan   </a:t>
            </a:r>
            <a:r>
              <a:rPr sz="950" b="1">
                <a:solidFill>
                  <a:srgbClr val="E8763C"/>
                </a:solidFill>
                <a:latin typeface="Inter"/>
              </a:rPr>
              <a:t>10</a:t>
            </a:r>
            <a:r>
              <a:rPr sz="950" b="0">
                <a:solidFill>
                  <a:srgbClr val="8A817A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DF9"/>
              </a:gs>
              <a:gs pos="100000">
                <a:srgbClr val="F3E7D8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1463040"/>
            <a:ext cx="4754880" cy="4754880"/>
          </a:xfrm>
          <a:prstGeom prst="ellipse">
            <a:avLst/>
          </a:prstGeom>
          <a:solidFill>
            <a:srgbClr val="F6C9A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F2C079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763C"/>
                </a:solidFill>
                <a:latin typeface="Inter"/>
              </a:rPr>
              <a:t>10  ·  EXPLAINABILITY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68096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2A2520"/>
                </a:solidFill>
                <a:latin typeface="Inter"/>
              </a:rPr>
              <a:t>Not a black box — </a:t>
            </a:r>
            <a:r>
              <a:rPr sz="3300" b="1">
                <a:solidFill>
                  <a:srgbClr val="E8763C"/>
                </a:solidFill>
                <a:latin typeface="Inter"/>
              </a:rPr>
              <a:t>we know why</a:t>
            </a:r>
          </a:p>
        </p:txBody>
      </p:sp>
      <p:pic>
        <p:nvPicPr>
          <p:cNvPr id="7" name="Picture 6" descr="shap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7223760" cy="332784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01000" y="1828800"/>
            <a:ext cx="3410712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83879" y="2103120"/>
            <a:ext cx="365760" cy="365760"/>
          </a:xfrm>
          <a:prstGeom prst="ellipse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21031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975104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A2520"/>
                </a:solidFill>
                <a:latin typeface="Inter"/>
              </a:rPr>
              <a:t>ContractRiskScore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30428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8A817A"/>
                </a:solidFill>
                <a:latin typeface="Inter"/>
              </a:rPr>
              <a:t>Short contracts dominate churn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862072"/>
            <a:ext cx="3410712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83879" y="3136391"/>
            <a:ext cx="365760" cy="365760"/>
          </a:xfrm>
          <a:prstGeom prst="ellipse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3136391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008376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A2520"/>
                </a:solidFill>
                <a:latin typeface="Inter"/>
              </a:rPr>
              <a:t>LoyaltyScore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33756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8A817A"/>
                </a:solidFill>
                <a:latin typeface="Inter"/>
              </a:rPr>
              <a:t>Low loyalty signal → high churn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3895344"/>
            <a:ext cx="3410712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83879" y="4169663"/>
            <a:ext cx="365760" cy="365760"/>
          </a:xfrm>
          <a:prstGeom prst="ellipse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4169663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041648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A2520"/>
                </a:solidFill>
                <a:latin typeface="Inter"/>
              </a:rPr>
              <a:t>Fiber Optic Internet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370831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8A817A"/>
                </a:solidFill>
                <a:latin typeface="Inter"/>
              </a:rPr>
              <a:t>Premium service, weak retention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4928616"/>
            <a:ext cx="3410712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83879" y="5202936"/>
            <a:ext cx="365760" cy="365760"/>
          </a:xfrm>
          <a:prstGeom prst="ellipse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520293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507492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A2520"/>
                </a:solidFill>
                <a:latin typeface="Inter"/>
              </a:rPr>
              <a:t>Electronic 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5404104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8A817A"/>
                </a:solidFill>
                <a:latin typeface="Inter"/>
              </a:rPr>
              <a:t>Manual payment = friction &amp; exit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6419088"/>
            <a:ext cx="10634472" cy="12700"/>
          </a:xfrm>
          <a:prstGeom prst="rect">
            <a:avLst/>
          </a:prstGeom>
          <a:solidFill>
            <a:srgbClr val="C9BCA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A817A"/>
                </a:solidFill>
                <a:latin typeface="Inter"/>
              </a:rPr>
              <a:t>Predictive Customer Churn Modelling  ·  Persevex AI Internship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6473952"/>
            <a:ext cx="2267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8A817A"/>
                </a:solidFill>
                <a:latin typeface="Inter"/>
              </a:rPr>
              <a:t>Aaditiya Anjan   </a:t>
            </a:r>
            <a:r>
              <a:rPr sz="950" b="1">
                <a:solidFill>
                  <a:srgbClr val="E8763C"/>
                </a:solidFill>
                <a:latin typeface="Inter"/>
              </a:rPr>
              <a:t>11</a:t>
            </a:r>
            <a:r>
              <a:rPr sz="950" b="0">
                <a:solidFill>
                  <a:srgbClr val="8A817A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DF9"/>
              </a:gs>
              <a:gs pos="100000">
                <a:srgbClr val="F3E7D8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1463040"/>
            <a:ext cx="4754880" cy="4754880"/>
          </a:xfrm>
          <a:prstGeom prst="ellipse">
            <a:avLst/>
          </a:prstGeom>
          <a:solidFill>
            <a:srgbClr val="F6C9A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F2C079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763C"/>
                </a:solidFill>
                <a:latin typeface="Inter"/>
              </a:rPr>
              <a:t>11  ·  BUSINESS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68096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2A2520"/>
                </a:solidFill>
                <a:latin typeface="Inter"/>
              </a:rPr>
              <a:t>From prediction to </a:t>
            </a:r>
            <a:r>
              <a:rPr sz="3300" b="1">
                <a:solidFill>
                  <a:srgbClr val="E8763C"/>
                </a:solidFill>
                <a:latin typeface="Inter"/>
              </a:rPr>
              <a:t>$39.8K net benefit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A817A"/>
                </a:solidFill>
                <a:latin typeface="Inter"/>
              </a:rPr>
              <a:t>Retention campaign targeting the top 20% highest-risk customers (281 of 1,409 test set)</a:t>
            </a:r>
          </a:p>
        </p:txBody>
      </p:sp>
      <p:pic>
        <p:nvPicPr>
          <p:cNvPr id="8" name="Picture 7" descr="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6766560" cy="391604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55279" y="1828800"/>
            <a:ext cx="3456432" cy="1024128"/>
          </a:xfrm>
          <a:prstGeom prst="roundRect">
            <a:avLst>
              <a:gd name="adj" fmla="val 6000"/>
            </a:avLst>
          </a:prstGeom>
          <a:solidFill>
            <a:srgbClr val="FFFFFF">
              <a:alpha val="653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975104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2A33C"/>
                </a:solidFill>
                <a:latin typeface="Inter"/>
              </a:rPr>
              <a:t>281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505456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8A817A"/>
                </a:solidFill>
                <a:latin typeface="Inter"/>
              </a:rPr>
              <a:t>CUSTOMERS CONTACTED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944368"/>
            <a:ext cx="3456432" cy="1024128"/>
          </a:xfrm>
          <a:prstGeom prst="roundRect">
            <a:avLst>
              <a:gd name="adj" fmla="val 6000"/>
            </a:avLst>
          </a:prstGeom>
          <a:solidFill>
            <a:srgbClr val="FFFFFF">
              <a:alpha val="653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3090672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E8763C"/>
                </a:solidFill>
                <a:latin typeface="Inter"/>
              </a:rPr>
              <a:t>190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62102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8A817A"/>
                </a:solidFill>
                <a:latin typeface="Inter"/>
              </a:rPr>
              <a:t>REAL CHURNERS IDENTIFIED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4059936"/>
            <a:ext cx="3456432" cy="1024128"/>
          </a:xfrm>
          <a:prstGeom prst="roundRect">
            <a:avLst>
              <a:gd name="adj" fmla="val 6000"/>
            </a:avLst>
          </a:prstGeom>
          <a:solidFill>
            <a:srgbClr val="FFFFFF">
              <a:alpha val="653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420624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2A33C"/>
                </a:solidFill>
                <a:latin typeface="Inter"/>
              </a:rPr>
              <a:t>$44,064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73659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8A817A"/>
                </a:solidFill>
                <a:latin typeface="Inter"/>
              </a:rPr>
              <a:t>GROSS REVENUE SAVED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5175504"/>
            <a:ext cx="3456432" cy="1024128"/>
          </a:xfrm>
          <a:prstGeom prst="roundRect">
            <a:avLst>
              <a:gd name="adj" fmla="val 6000"/>
            </a:avLst>
          </a:prstGeom>
          <a:solidFill>
            <a:srgbClr val="FFFFFF">
              <a:alpha val="653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5321808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E8763C"/>
                </a:solidFill>
                <a:latin typeface="Inter"/>
              </a:rPr>
              <a:t>9.5×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58521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8A817A"/>
                </a:solidFill>
                <a:latin typeface="Inter"/>
              </a:rPr>
              <a:t>RETURN ON CAMPAIGN COST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6419088"/>
            <a:ext cx="10634472" cy="12700"/>
          </a:xfrm>
          <a:prstGeom prst="rect">
            <a:avLst/>
          </a:prstGeom>
          <a:solidFill>
            <a:srgbClr val="C9BCA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A817A"/>
                </a:solidFill>
                <a:latin typeface="Inter"/>
              </a:rPr>
              <a:t>Predictive Customer Churn Modelling  ·  Persevex AI Internship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6473952"/>
            <a:ext cx="2267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8A817A"/>
                </a:solidFill>
                <a:latin typeface="Inter"/>
              </a:rPr>
              <a:t>Aaditiya Anjan   </a:t>
            </a:r>
            <a:r>
              <a:rPr sz="950" b="1">
                <a:solidFill>
                  <a:srgbClr val="E8763C"/>
                </a:solidFill>
                <a:latin typeface="Inter"/>
              </a:rPr>
              <a:t>12</a:t>
            </a:r>
            <a:r>
              <a:rPr sz="950" b="0">
                <a:solidFill>
                  <a:srgbClr val="8A817A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DF9"/>
              </a:gs>
              <a:gs pos="100000">
                <a:srgbClr val="F3E7D8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1463040"/>
            <a:ext cx="4754880" cy="4754880"/>
          </a:xfrm>
          <a:prstGeom prst="ellipse">
            <a:avLst/>
          </a:prstGeom>
          <a:solidFill>
            <a:srgbClr val="F6C9A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F2C079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763C"/>
                </a:solidFill>
                <a:latin typeface="Inter"/>
              </a:rPr>
              <a:t>12  · 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68096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2A2520"/>
                </a:solidFill>
                <a:latin typeface="Inter"/>
              </a:rPr>
              <a:t>Six retention plays + what's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56432" cy="1170432"/>
          </a:xfrm>
          <a:prstGeom prst="roundRect">
            <a:avLst>
              <a:gd name="adj" fmla="val 6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75104"/>
            <a:ext cx="29992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763C"/>
                </a:solidFill>
                <a:latin typeface="Inter"/>
              </a:rPr>
              <a:t>1  </a:t>
            </a:r>
            <a:r>
              <a:rPr sz="1500" b="1">
                <a:solidFill>
                  <a:srgbClr val="2A2520"/>
                </a:solidFill>
                <a:latin typeface="Inter"/>
              </a:rPr>
              <a:t>Lock in contracts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59152"/>
            <a:ext cx="2999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817A"/>
                </a:solidFill>
                <a:latin typeface="Inter"/>
              </a:rPr>
              <a:t>Convert month-to-month users to 1–2 year terms with incentives.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828800"/>
            <a:ext cx="3456432" cy="1170432"/>
          </a:xfrm>
          <a:prstGeom prst="roundRect">
            <a:avLst>
              <a:gd name="adj" fmla="val 6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975104"/>
            <a:ext cx="29992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763C"/>
                </a:solidFill>
                <a:latin typeface="Inter"/>
              </a:rPr>
              <a:t>2  </a:t>
            </a:r>
            <a:r>
              <a:rPr sz="1500" b="1">
                <a:solidFill>
                  <a:srgbClr val="2A2520"/>
                </a:solidFill>
                <a:latin typeface="Inter"/>
              </a:rPr>
              <a:t>Early-tenure care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359152"/>
            <a:ext cx="2999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817A"/>
                </a:solidFill>
                <a:latin typeface="Inter"/>
              </a:rPr>
              <a:t>Onboarding &amp; check-ins in the first 12 months — the riskiest window.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2712" y="1828800"/>
            <a:ext cx="3456432" cy="1170432"/>
          </a:xfrm>
          <a:prstGeom prst="roundRect">
            <a:avLst>
              <a:gd name="adj" fmla="val 6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975104"/>
            <a:ext cx="29992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763C"/>
                </a:solidFill>
                <a:latin typeface="Inter"/>
              </a:rPr>
              <a:t>3  </a:t>
            </a:r>
            <a:r>
              <a:rPr sz="1500" b="1">
                <a:solidFill>
                  <a:srgbClr val="2A2520"/>
                </a:solidFill>
                <a:latin typeface="Inter"/>
              </a:rPr>
              <a:t>Fiber value boost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359152"/>
            <a:ext cx="2999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817A"/>
                </a:solidFill>
                <a:latin typeface="Inter"/>
              </a:rPr>
              <a:t>Bundle support &amp; security to justify premium fiber pricing.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145536"/>
            <a:ext cx="3456432" cy="1170432"/>
          </a:xfrm>
          <a:prstGeom prst="roundRect">
            <a:avLst>
              <a:gd name="adj" fmla="val 6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291840"/>
            <a:ext cx="29992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763C"/>
                </a:solidFill>
                <a:latin typeface="Inter"/>
              </a:rPr>
              <a:t>4  </a:t>
            </a:r>
            <a:r>
              <a:rPr sz="1500" b="1">
                <a:solidFill>
                  <a:srgbClr val="2A2520"/>
                </a:solidFill>
                <a:latin typeface="Inter"/>
              </a:rPr>
              <a:t>Auto-pay nudges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75887"/>
            <a:ext cx="2999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817A"/>
                </a:solidFill>
                <a:latin typeface="Inter"/>
              </a:rPr>
              <a:t>Incentivise auto-pay to remove billing friction (a protective factor).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9976" y="3145536"/>
            <a:ext cx="3456432" cy="1170432"/>
          </a:xfrm>
          <a:prstGeom prst="roundRect">
            <a:avLst>
              <a:gd name="adj" fmla="val 6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8576" y="3291840"/>
            <a:ext cx="29992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763C"/>
                </a:solidFill>
                <a:latin typeface="Inter"/>
              </a:rPr>
              <a:t>5  </a:t>
            </a:r>
            <a:r>
              <a:rPr sz="1500" b="1">
                <a:solidFill>
                  <a:srgbClr val="2A2520"/>
                </a:solidFill>
                <a:latin typeface="Inter"/>
              </a:rPr>
              <a:t>Bundle campaigns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3675887"/>
            <a:ext cx="2999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817A"/>
                </a:solidFill>
                <a:latin typeface="Inter"/>
              </a:rPr>
              <a:t>Drive multi-service adoption — bundled users churn 8× less.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82712" y="3145536"/>
            <a:ext cx="3456432" cy="1170432"/>
          </a:xfrm>
          <a:prstGeom prst="roundRect">
            <a:avLst>
              <a:gd name="adj" fmla="val 6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3291840"/>
            <a:ext cx="29992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763C"/>
                </a:solidFill>
                <a:latin typeface="Inter"/>
              </a:rPr>
              <a:t>6  </a:t>
            </a:r>
            <a:r>
              <a:rPr sz="1500" b="1">
                <a:solidFill>
                  <a:srgbClr val="2A2520"/>
                </a:solidFill>
                <a:latin typeface="Inter"/>
              </a:rPr>
              <a:t>Risk-based outreach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3675887"/>
            <a:ext cx="2999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817A"/>
                </a:solidFill>
                <a:latin typeface="Inter"/>
              </a:rPr>
              <a:t>Focus retention budget on the top-20% model risk tier.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507992"/>
            <a:ext cx="10634472" cy="1051560"/>
          </a:xfrm>
          <a:prstGeom prst="roundRect">
            <a:avLst>
              <a:gd name="adj" fmla="val 6000"/>
            </a:avLst>
          </a:prstGeom>
          <a:solidFill>
            <a:srgbClr val="FFFFFF">
              <a:alpha val="602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672583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8763C"/>
                </a:solidFill>
                <a:latin typeface="Inter"/>
              </a:rPr>
              <a:t>FUTURE 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96519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A2520"/>
                </a:solidFill>
                <a:latin typeface="Inter"/>
              </a:rPr>
              <a:t>Real-time risk scoring · Customer-lifetime-value weighting · Deep-learning models · A/B-tested retention offers · Automated deployment pipeline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6419088"/>
            <a:ext cx="10634472" cy="12700"/>
          </a:xfrm>
          <a:prstGeom prst="rect">
            <a:avLst/>
          </a:prstGeom>
          <a:solidFill>
            <a:srgbClr val="C9BCA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A817A"/>
                </a:solidFill>
                <a:latin typeface="Inter"/>
              </a:rPr>
              <a:t>Predictive Customer Churn Modelling  ·  Persevex AI Internship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6473952"/>
            <a:ext cx="2267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8A817A"/>
                </a:solidFill>
                <a:latin typeface="Inter"/>
              </a:rPr>
              <a:t>Aaditiya Anjan   </a:t>
            </a:r>
            <a:r>
              <a:rPr sz="950" b="1">
                <a:solidFill>
                  <a:srgbClr val="E8763C"/>
                </a:solidFill>
                <a:latin typeface="Inter"/>
              </a:rPr>
              <a:t>13</a:t>
            </a:r>
            <a:r>
              <a:rPr sz="950" b="0">
                <a:solidFill>
                  <a:srgbClr val="8A817A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DF9"/>
              </a:gs>
              <a:gs pos="100000">
                <a:srgbClr val="F3E7D8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1463040"/>
            <a:ext cx="4754880" cy="4754880"/>
          </a:xfrm>
          <a:prstGeom prst="ellipse">
            <a:avLst/>
          </a:prstGeom>
          <a:solidFill>
            <a:srgbClr val="F6C9A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F2C079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0" y="2377440"/>
            <a:ext cx="4206240" cy="4206240"/>
          </a:xfrm>
          <a:prstGeom prst="ellipse">
            <a:avLst/>
          </a:prstGeom>
          <a:solidFill>
            <a:srgbClr val="F6C9A0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6968" y="2148840"/>
            <a:ext cx="640080" cy="73152"/>
          </a:xfrm>
          <a:prstGeom prst="roundRect">
            <a:avLst>
              <a:gd name="adj" fmla="val 50000"/>
            </a:avLst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2A2520"/>
                </a:solidFill>
                <a:latin typeface="Inter"/>
              </a:rPr>
              <a:t>Thank </a:t>
            </a:r>
            <a:r>
              <a:rPr sz="6400" b="1">
                <a:solidFill>
                  <a:srgbClr val="E8763C"/>
                </a:solidFill>
                <a:latin typeface="Inter"/>
              </a:rPr>
              <a:t>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A817A"/>
                </a:solidFill>
                <a:latin typeface="Inter"/>
              </a:rPr>
              <a:t>Predictive Customer Churn Modelling — from raw data to retention strategy.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343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A2520"/>
                </a:solidFill>
                <a:latin typeface="Inter"/>
              </a:rPr>
              <a:t>Questions &amp; discussion welcome.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029200"/>
            <a:ext cx="5120640" cy="1051560"/>
          </a:xfrm>
          <a:prstGeom prst="roundRect">
            <a:avLst>
              <a:gd name="adj" fmla="val 6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521208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763C"/>
                </a:solidFill>
                <a:latin typeface="Inter"/>
              </a:rPr>
              <a:t>GITHUB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53212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A2520"/>
                </a:solidFill>
                <a:latin typeface="Inter"/>
              </a:rPr>
              <a:t>github.com/VibecoderAaditiya/
Telco-Customer-Churn-Prediction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5029200"/>
            <a:ext cx="5120640" cy="1051560"/>
          </a:xfrm>
          <a:prstGeom prst="roundRect">
            <a:avLst>
              <a:gd name="adj" fmla="val 6000"/>
            </a:avLst>
          </a:prstGeom>
          <a:solidFill>
            <a:srgbClr val="FFFFFF">
              <a:alpha val="63600"/>
            </a:srgbClr>
          </a:solidFill>
          <a:ln w="15240">
            <a:solidFill>
              <a:srgbClr val="FFFFFF">
                <a:alpha val="85000"/>
              </a:srgbClr>
            </a:solidFill>
          </a:ln>
          <a:effectLst>
            <a:outerShdw blurRad="128016" dist="4572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521208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763C"/>
                </a:solidFill>
                <a:latin typeface="Inter"/>
              </a:rPr>
              <a:t>PRESENTED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553212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A2520"/>
                </a:solidFill>
                <a:latin typeface="Inter"/>
              </a:rPr>
              <a:t>Aaditiya Anjan</a:t>
            </a:r>
            <a:r>
              <a:rPr sz="1200" b="0">
                <a:solidFill>
                  <a:srgbClr val="8A817A"/>
                </a:solidFill>
                <a:latin typeface="Inter"/>
              </a:rPr>
              <a:t>   ·   24BCS13112  ·  BE-CSE  ·  Sem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